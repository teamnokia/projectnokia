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24" autoAdjust="0"/>
    <p:restoredTop sz="89029" autoAdjust="0"/>
  </p:normalViewPr>
  <p:slideViewPr>
    <p:cSldViewPr>
      <p:cViewPr varScale="1">
        <p:scale>
          <a:sx n="79" d="100"/>
          <a:sy n="79" d="100"/>
        </p:scale>
        <p:origin x="119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Net Sales by Major Markets</a:t>
            </a:r>
            <a:r>
              <a:rPr lang="en-US" sz="1400" b="0" i="0" u="none" strike="noStrike" baseline="0"/>
              <a:t> 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Sheet1!$B$38:$B$39</c:f>
              <c:strCache>
                <c:ptCount val="2"/>
                <c:pt idx="0">
                  <c:v>2005</c:v>
                </c:pt>
                <c:pt idx="1">
                  <c:v>-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Sheet1!$B$40:$B$45</c:f>
              <c:numCache>
                <c:formatCode>0%</c:formatCode>
                <c:ptCount val="6"/>
                <c:pt idx="0">
                  <c:v>0.08</c:v>
                </c:pt>
                <c:pt idx="1">
                  <c:v>0.08</c:v>
                </c:pt>
                <c:pt idx="2">
                  <c:v>0.42</c:v>
                </c:pt>
                <c:pt idx="3">
                  <c:v>0.13</c:v>
                </c:pt>
                <c:pt idx="4">
                  <c:v>0.18</c:v>
                </c:pt>
                <c:pt idx="5">
                  <c:v>0.11</c:v>
                </c:pt>
              </c:numCache>
            </c:numRef>
          </c:val>
        </c:ser>
        <c:ser>
          <c:idx val="1"/>
          <c:order val="1"/>
          <c:tx>
            <c:strRef>
              <c:f>Sheet1!$C$38:$C$39</c:f>
              <c:strCache>
                <c:ptCount val="2"/>
                <c:pt idx="0">
                  <c:v>2006</c:v>
                </c:pt>
                <c:pt idx="1">
                  <c:v>-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Sheet1!$C$40:$C$45</c:f>
              <c:numCache>
                <c:formatCode>0%</c:formatCode>
                <c:ptCount val="6"/>
                <c:pt idx="0">
                  <c:v>7.0000000000000007E-2</c:v>
                </c:pt>
                <c:pt idx="1">
                  <c:v>0.09</c:v>
                </c:pt>
                <c:pt idx="2">
                  <c:v>0.38</c:v>
                </c:pt>
                <c:pt idx="3">
                  <c:v>0.13</c:v>
                </c:pt>
                <c:pt idx="4">
                  <c:v>0.2</c:v>
                </c:pt>
                <c:pt idx="5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Sheet1!$D$38:$D$39</c:f>
              <c:strCache>
                <c:ptCount val="2"/>
                <c:pt idx="0">
                  <c:v>2007</c:v>
                </c:pt>
                <c:pt idx="1">
                  <c:v>-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Sheet1!$D$40:$D$45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0.39</c:v>
                </c:pt>
                <c:pt idx="3">
                  <c:v>0.14000000000000001</c:v>
                </c:pt>
                <c:pt idx="4">
                  <c:v>0.22</c:v>
                </c:pt>
                <c:pt idx="5">
                  <c:v>0.12</c:v>
                </c:pt>
              </c:numCache>
            </c:numRef>
          </c:val>
        </c:ser>
        <c:ser>
          <c:idx val="3"/>
          <c:order val="3"/>
          <c:tx>
            <c:strRef>
              <c:f>Sheet1!$E$38:$E$39</c:f>
              <c:strCache>
                <c:ptCount val="2"/>
                <c:pt idx="0">
                  <c:v>2008</c:v>
                </c:pt>
                <c:pt idx="1">
                  <c:v>-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Sheet1!$E$40:$E$45</c:f>
              <c:numCache>
                <c:formatCode>0%</c:formatCode>
                <c:ptCount val="6"/>
                <c:pt idx="0">
                  <c:v>0.04</c:v>
                </c:pt>
                <c:pt idx="1">
                  <c:v>0.1</c:v>
                </c:pt>
                <c:pt idx="2">
                  <c:v>0.37</c:v>
                </c:pt>
                <c:pt idx="3">
                  <c:v>0.14000000000000001</c:v>
                </c:pt>
                <c:pt idx="4">
                  <c:v>0.22</c:v>
                </c:pt>
                <c:pt idx="5">
                  <c:v>0.13</c:v>
                </c:pt>
              </c:numCache>
            </c:numRef>
          </c:val>
        </c:ser>
        <c:ser>
          <c:idx val="4"/>
          <c:order val="4"/>
          <c:tx>
            <c:strRef>
              <c:f>Sheet1!$F$38:$F$39</c:f>
              <c:strCache>
                <c:ptCount val="2"/>
                <c:pt idx="0">
                  <c:v>2009</c:v>
                </c:pt>
                <c:pt idx="1">
                  <c:v>-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Sheet1!$F$40:$F$45</c:f>
              <c:numCache>
                <c:formatCode>0%</c:formatCode>
                <c:ptCount val="6"/>
                <c:pt idx="0">
                  <c:v>0.05</c:v>
                </c:pt>
                <c:pt idx="1">
                  <c:v>7.0000000000000007E-2</c:v>
                </c:pt>
                <c:pt idx="2">
                  <c:v>0.36</c:v>
                </c:pt>
                <c:pt idx="3">
                  <c:v>0.14000000000000001</c:v>
                </c:pt>
                <c:pt idx="4">
                  <c:v>0.22</c:v>
                </c:pt>
                <c:pt idx="5">
                  <c:v>0.16</c:v>
                </c:pt>
              </c:numCache>
            </c:numRef>
          </c:val>
        </c:ser>
        <c:ser>
          <c:idx val="5"/>
          <c:order val="5"/>
          <c:tx>
            <c:strRef>
              <c:f>Sheet1!$G$38:$G$39</c:f>
              <c:strCache>
                <c:ptCount val="2"/>
                <c:pt idx="0">
                  <c:v>2010</c:v>
                </c:pt>
                <c:pt idx="1">
                  <c:v>-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Sheet1!$G$40:$G$45</c:f>
              <c:numCache>
                <c:formatCode>0%</c:formatCode>
                <c:ptCount val="6"/>
                <c:pt idx="0">
                  <c:v>0.05</c:v>
                </c:pt>
                <c:pt idx="1">
                  <c:v>0.09</c:v>
                </c:pt>
                <c:pt idx="2">
                  <c:v>0.34</c:v>
                </c:pt>
                <c:pt idx="3">
                  <c:v>0.13</c:v>
                </c:pt>
                <c:pt idx="4">
                  <c:v>0.21</c:v>
                </c:pt>
                <c:pt idx="5">
                  <c:v>0.18</c:v>
                </c:pt>
              </c:numCache>
            </c:numRef>
          </c:val>
        </c:ser>
        <c:ser>
          <c:idx val="6"/>
          <c:order val="6"/>
          <c:tx>
            <c:strRef>
              <c:f>Sheet1!$H$38:$H$39</c:f>
              <c:strCache>
                <c:ptCount val="2"/>
                <c:pt idx="0">
                  <c:v>2011</c:v>
                </c:pt>
                <c:pt idx="1">
                  <c:v>-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Sheet1!$H$40:$H$45</c:f>
              <c:numCache>
                <c:formatCode>0%</c:formatCode>
                <c:ptCount val="6"/>
                <c:pt idx="0">
                  <c:v>0.04</c:v>
                </c:pt>
                <c:pt idx="1">
                  <c:v>0.11</c:v>
                </c:pt>
                <c:pt idx="2">
                  <c:v>0.31</c:v>
                </c:pt>
                <c:pt idx="3">
                  <c:v>0.14000000000000001</c:v>
                </c:pt>
                <c:pt idx="4">
                  <c:v>0.23</c:v>
                </c:pt>
                <c:pt idx="5">
                  <c:v>0.17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92636344"/>
        <c:axId val="492638304"/>
      </c:barChart>
      <c:catAx>
        <c:axId val="4926363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638304"/>
        <c:crosses val="autoZero"/>
        <c:auto val="1"/>
        <c:lblAlgn val="ctr"/>
        <c:lblOffset val="100"/>
        <c:noMultiLvlLbl val="0"/>
      </c:catAx>
      <c:valAx>
        <c:axId val="4926383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636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4B76B-686D-47F8-A5B0-CA4496C6EE71}" type="datetimeFigureOut">
              <a:rPr lang="en-US" smtClean="0"/>
              <a:t>4/15/2016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0B66D-6A83-46EB-9BBC-DE1EA1BE5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42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r>
              <a:rPr lang="en-US" sz="1400" b="1" i="0" baseline="0" dirty="0" smtClean="0"/>
              <a:t>Diffused arches</a:t>
            </a:r>
          </a:p>
          <a:p>
            <a:pPr>
              <a:spcAft>
                <a:spcPts val="200"/>
              </a:spcAft>
            </a:pPr>
            <a:r>
              <a:rPr lang="en-US" sz="1400" b="0" baseline="0" dirty="0" smtClean="0"/>
              <a:t>(Intermediate)</a:t>
            </a:r>
            <a:endParaRPr lang="en-US" sz="1400" b="0" dirty="0" smtClean="0"/>
          </a:p>
          <a:p>
            <a:pPr>
              <a:spcAft>
                <a:spcPts val="200"/>
              </a:spcAft>
            </a:pPr>
            <a:endParaRPr lang="en-US" sz="1400" dirty="0" smtClean="0"/>
          </a:p>
          <a:p>
            <a:pPr>
              <a:spcAft>
                <a:spcPts val="200"/>
              </a:spcAft>
            </a:pPr>
            <a:endParaRPr lang="en-US" sz="1400" dirty="0" smtClean="0"/>
          </a:p>
          <a:p>
            <a:pPr>
              <a:spcAft>
                <a:spcPts val="200"/>
              </a:spcAft>
            </a:pPr>
            <a:r>
              <a:rPr lang="en-US" sz="1200" dirty="0" smtClean="0"/>
              <a:t>To reproduce the</a:t>
            </a:r>
            <a:r>
              <a:rPr lang="en-US" sz="1200" baseline="0" dirty="0" smtClean="0"/>
              <a:t> shape effects on this slide, do the following: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i="0" dirty="0" smtClean="0"/>
              <a:t>On the </a:t>
            </a:r>
            <a:r>
              <a:rPr lang="en-US" sz="1200" b="1" i="0" dirty="0" smtClean="0"/>
              <a:t>Home</a:t>
            </a:r>
            <a:r>
              <a:rPr lang="en-US" sz="1200" i="0" dirty="0" smtClean="0"/>
              <a:t> tab, in the</a:t>
            </a:r>
            <a:r>
              <a:rPr lang="en-US" sz="1200" i="0" baseline="0" dirty="0" smtClean="0"/>
              <a:t> </a:t>
            </a:r>
            <a:r>
              <a:rPr lang="en-US" sz="1200" b="1" i="0" baseline="0" dirty="0" smtClean="0"/>
              <a:t>Slides</a:t>
            </a:r>
            <a:r>
              <a:rPr lang="en-US" sz="1200" i="0" baseline="0" dirty="0" smtClean="0"/>
              <a:t> group, click </a:t>
            </a:r>
            <a:r>
              <a:rPr lang="en-US" sz="1200" b="1" i="0" baseline="0" dirty="0" smtClean="0"/>
              <a:t>Layout</a:t>
            </a:r>
            <a:r>
              <a:rPr lang="en-US" sz="1200" i="0" baseline="0" dirty="0" smtClean="0"/>
              <a:t>, and then click </a:t>
            </a:r>
            <a:r>
              <a:rPr lang="en-US" sz="1200" b="1" i="0" baseline="0" dirty="0" smtClean="0"/>
              <a:t>Blank</a:t>
            </a:r>
            <a:r>
              <a:rPr lang="en-US" sz="1200" i="0" baseline="0" dirty="0" smtClean="0"/>
              <a:t>.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</a:t>
            </a:r>
            <a:r>
              <a:rPr lang="en-US" sz="1200" b="1" baseline="0" dirty="0" smtClean="0"/>
              <a:t>Shapes</a:t>
            </a:r>
            <a:r>
              <a:rPr lang="en-US" sz="1200" baseline="0" dirty="0" smtClean="0"/>
              <a:t>, and then under </a:t>
            </a:r>
            <a:r>
              <a:rPr lang="en-US" sz="1200" b="1" baseline="0" dirty="0" smtClean="0"/>
              <a:t>Lines</a:t>
            </a:r>
            <a:r>
              <a:rPr lang="en-US" sz="1200" b="0" baseline="0" dirty="0" smtClean="0"/>
              <a:t>,</a:t>
            </a:r>
            <a:r>
              <a:rPr lang="en-US" sz="1200" baseline="0" dirty="0" smtClean="0"/>
              <a:t> click </a:t>
            </a:r>
            <a:r>
              <a:rPr lang="en-US" sz="1200" b="1" baseline="0" dirty="0" smtClean="0"/>
              <a:t>Curve</a:t>
            </a:r>
            <a:r>
              <a:rPr lang="en-US" sz="1200" baseline="0" dirty="0" smtClean="0"/>
              <a:t> (tenth option from the left).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slide, click three points to draw a simple curved line, and then double-click to finish drawing.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Select the curved line. 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the arrow next to </a:t>
            </a:r>
            <a:r>
              <a:rPr lang="en-US" sz="1200" b="1" baseline="0" dirty="0" smtClean="0"/>
              <a:t>Shape Fill</a:t>
            </a:r>
            <a:r>
              <a:rPr lang="en-US" sz="1200" baseline="0" dirty="0" smtClean="0"/>
              <a:t>, point to </a:t>
            </a:r>
            <a:r>
              <a:rPr lang="en-US" sz="1200" b="1" baseline="0" dirty="0" smtClean="0"/>
              <a:t>Gradient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More Gradients</a:t>
            </a:r>
            <a:r>
              <a:rPr lang="en-US" sz="1200" baseline="0" dirty="0" smtClean="0"/>
              <a:t>. In the </a:t>
            </a:r>
            <a:r>
              <a:rPr lang="en-US" sz="1200" b="1" baseline="0" dirty="0" smtClean="0"/>
              <a:t>Format Shape </a:t>
            </a:r>
            <a:r>
              <a:rPr lang="en-US" sz="1200" baseline="0" dirty="0" smtClean="0"/>
              <a:t>dialog box, click </a:t>
            </a:r>
            <a:r>
              <a:rPr lang="en-US" sz="1200" b="1" baseline="0" dirty="0" smtClean="0"/>
              <a:t>Fill </a:t>
            </a:r>
            <a:r>
              <a:rPr lang="en-US" sz="1200" baseline="0" dirty="0" smtClean="0"/>
              <a:t>in the left pane, select </a:t>
            </a:r>
            <a:r>
              <a:rPr lang="en-US" sz="1200" b="1" baseline="0" dirty="0" smtClean="0"/>
              <a:t>Gradient fill </a:t>
            </a:r>
            <a:r>
              <a:rPr lang="en-US" sz="1200" baseline="0" dirty="0" smtClean="0"/>
              <a:t>in the </a:t>
            </a:r>
            <a:r>
              <a:rPr lang="en-US" sz="1200" b="1" baseline="0" dirty="0" smtClean="0"/>
              <a:t>Fill</a:t>
            </a:r>
            <a:r>
              <a:rPr lang="en-US" sz="1200" baseline="0" dirty="0" smtClean="0"/>
              <a:t> pane, and then do the following: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list, select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Down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(first row, second option from the left).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gradient stop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 gradient stop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until two stops appear in the slider.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customize the gradient stops that you added as follows: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under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dirty="0" smtClean="0"/>
              <a:t>White,</a:t>
            </a:r>
            <a:r>
              <a:rPr lang="en-US" sz="1200" b="1" baseline="0" dirty="0" smtClean="0"/>
              <a:t> Background 1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(first row, first option from the left).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Transparency box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50%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under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dirty="0" smtClean="0"/>
              <a:t>White,</a:t>
            </a:r>
            <a:r>
              <a:rPr lang="en-US" sz="1200" b="1" baseline="0" dirty="0" smtClean="0"/>
              <a:t> Background 1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(first row, first option from the left).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Transparency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100%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</a:t>
            </a:r>
            <a:r>
              <a:rPr lang="en-US" sz="1200" b="1" baseline="0" dirty="0" smtClean="0"/>
              <a:t>Shape Effects</a:t>
            </a:r>
            <a:r>
              <a:rPr lang="en-US" sz="1200" baseline="0" dirty="0" smtClean="0"/>
              <a:t>, point to </a:t>
            </a:r>
            <a:r>
              <a:rPr lang="en-US" sz="1200" b="1" baseline="0" dirty="0" smtClean="0"/>
              <a:t>Soft Edges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5 point</a:t>
            </a:r>
            <a:r>
              <a:rPr lang="en-US" sz="1200" baseline="0" dirty="0" smtClean="0"/>
              <a:t>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the arrow next to </a:t>
            </a:r>
            <a:r>
              <a:rPr lang="en-US" sz="1200" b="1" baseline="0" dirty="0" smtClean="0"/>
              <a:t>Shape Outline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No Outline</a:t>
            </a:r>
            <a:r>
              <a:rPr lang="en-US" sz="1200" baseline="0" dirty="0" smtClean="0"/>
              <a:t>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endParaRPr lang="en-US" sz="1200" baseline="0" dirty="0" smtClean="0"/>
          </a:p>
          <a:p>
            <a:pPr>
              <a:spcAft>
                <a:spcPts val="200"/>
              </a:spcAft>
            </a:pPr>
            <a:endParaRPr lang="en-US" sz="1200" b="0" baseline="0" dirty="0" smtClean="0"/>
          </a:p>
          <a:p>
            <a:r>
              <a:rPr lang="en-US" sz="1200" dirty="0" smtClean="0"/>
              <a:t>To reproduce the background effects on this slide, do the following: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Right-click the slide background area, and then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Background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Background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dialog box,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left pane, select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fill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right pane, and then do the following: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list, select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Radial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Center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(third option from the left). 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gradient stop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 gradient stop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until two stops appear in the slider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customize the gradient stops that you added as follows: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White, Background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(first row, first option from the left).</a:t>
            </a:r>
            <a:endParaRPr lang="en-US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White, Background 1, Darker 50%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(sixth row, first option from the left)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1" baseline="0" dirty="0" smtClean="0"/>
          </a:p>
          <a:p>
            <a:pPr>
              <a:spcAft>
                <a:spcPts val="200"/>
              </a:spcAft>
            </a:pPr>
            <a:endParaRPr lang="en-US" sz="1200" dirty="0" smtClean="0"/>
          </a:p>
          <a:p>
            <a:pPr>
              <a:spcAft>
                <a:spcPts val="200"/>
              </a:spcAft>
            </a:pPr>
            <a:endParaRPr lang="en-US" sz="1200" dirty="0" smtClean="0"/>
          </a:p>
          <a:p>
            <a:pPr>
              <a:spcAft>
                <a:spcPts val="200"/>
              </a:spcAft>
            </a:pPr>
            <a:r>
              <a:rPr lang="en-US" sz="1200" dirty="0" smtClean="0"/>
              <a:t>To reproduce</a:t>
            </a:r>
            <a:r>
              <a:rPr lang="en-US" sz="1200" baseline="0" dirty="0" smtClean="0"/>
              <a:t> the duplicate curved lines on the slide, do the following: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Clipboard</a:t>
            </a:r>
            <a:r>
              <a:rPr lang="en-US" sz="1200" baseline="0" dirty="0" smtClean="0"/>
              <a:t> group, click the arrow under </a:t>
            </a:r>
            <a:r>
              <a:rPr lang="en-US" sz="1200" b="1" baseline="0" dirty="0" smtClean="0"/>
              <a:t>Copy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Duplicate</a:t>
            </a:r>
            <a:r>
              <a:rPr lang="en-US" sz="1200" baseline="0" dirty="0" smtClean="0"/>
              <a:t>. Repeat the process for a total of three curved lines.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slide, drag the curved lines to position them as needed.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Right-click one of the duplicate curved lines, click </a:t>
            </a:r>
            <a:r>
              <a:rPr lang="en-US" sz="1200" b="1" baseline="0" dirty="0" smtClean="0"/>
              <a:t>Edit Points</a:t>
            </a:r>
            <a:r>
              <a:rPr lang="en-US" sz="1200" baseline="0" dirty="0" smtClean="0"/>
              <a:t>, and then drag the points on the curve to make a new shape. Repeat the process with the other duplicate curved line. </a:t>
            </a:r>
          </a:p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446430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371553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1468184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921764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01920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735345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698237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529610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551359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1735709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815222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4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282854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463250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862692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0B66D-6A83-46EB-9BBC-DE1EA1BE58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0B66D-6A83-46EB-9BBC-DE1EA1BE58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52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0B66D-6A83-46EB-9BBC-DE1EA1BE58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2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42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30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76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685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67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97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7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8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08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47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4/15/2016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98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rgbClr val="000000"/>
                </a:solidFill>
                <a:latin typeface="Arial Black"/>
                <a:ea typeface="Times New Roman"/>
              </a:rPr>
              <a:t>THE RISE AND FALL OF NOKIA</a:t>
            </a:r>
            <a:r>
              <a:rPr lang="en-US" sz="3600" b="1" dirty="0">
                <a:solidFill>
                  <a:srgbClr val="000000"/>
                </a:solidFill>
                <a:latin typeface="Arial"/>
                <a:ea typeface="Times New Roman"/>
              </a:rPr>
              <a:t/>
            </a:r>
            <a:br>
              <a:rPr lang="en-US" sz="3600" b="1" dirty="0">
                <a:solidFill>
                  <a:srgbClr val="000000"/>
                </a:solidFill>
                <a:latin typeface="Arial"/>
                <a:ea typeface="Times New Roman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Times New Roman"/>
              </a:rPr>
              <a:t>Prepared By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Times New Roman"/>
              </a:rPr>
              <a:t>Sainath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Times New Roman"/>
              </a:rPr>
              <a:t>Gagireddy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</a:b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Ram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ea typeface="Times New Roman"/>
              </a:rPr>
              <a:t>Pochammala</a:t>
            </a:r>
            <a:endParaRPr lang="en-US" sz="2000" dirty="0" smtClean="0">
              <a:solidFill>
                <a:srgbClr val="000000"/>
              </a:solidFill>
              <a:latin typeface="Arial"/>
              <a:ea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/>
                <a:ea typeface="Times New Roman"/>
              </a:rPr>
              <a:t>Siddharth 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ea typeface="Times New Roman"/>
              </a:rPr>
              <a:t>Patel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/>
                <a:ea typeface="Times New Roman"/>
              </a:rPr>
              <a:t>Sudheer Bangunde</a:t>
            </a:r>
            <a:endParaRPr lang="en-US" sz="2000" dirty="0">
              <a:solidFill>
                <a:srgbClr val="000000"/>
              </a:solidFill>
              <a:latin typeface="Arial"/>
              <a:ea typeface="Times New Roman"/>
            </a:endParaRP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3248025"/>
            <a:ext cx="57324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06990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9156" y="577334"/>
            <a:ext cx="46808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Table of Contents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>
                <a:latin typeface="Arial Black" panose="020B0A04020102020204" pitchFamily="34" charset="0"/>
              </a:rPr>
              <a:t>Introduction</a:t>
            </a:r>
          </a:p>
          <a:p>
            <a:r>
              <a:rPr lang="en-US" sz="2600" dirty="0" smtClean="0">
                <a:latin typeface="Arial Black" panose="020B0A04020102020204" pitchFamily="34" charset="0"/>
              </a:rPr>
              <a:t>Nokia’s Notable Achievement</a:t>
            </a:r>
          </a:p>
          <a:p>
            <a:r>
              <a:rPr lang="en-US" sz="2600" dirty="0" smtClean="0">
                <a:latin typeface="Arial Black" panose="020B0A04020102020204" pitchFamily="34" charset="0"/>
              </a:rPr>
              <a:t>Nokia’s </a:t>
            </a:r>
            <a:r>
              <a:rPr lang="en-US" sz="2600" dirty="0">
                <a:latin typeface="Arial Black" panose="020B0A04020102020204" pitchFamily="34" charset="0"/>
              </a:rPr>
              <a:t>T</a:t>
            </a:r>
            <a:r>
              <a:rPr lang="en-US" sz="2600" dirty="0" smtClean="0">
                <a:latin typeface="Arial Black" panose="020B0A04020102020204" pitchFamily="34" charset="0"/>
              </a:rPr>
              <a:t>echnology Achievement</a:t>
            </a:r>
          </a:p>
          <a:p>
            <a:r>
              <a:rPr lang="en-US" sz="2600" b="1" dirty="0">
                <a:latin typeface="Arial Black" pitchFamily="34" charset="0"/>
              </a:rPr>
              <a:t>Nokia Burning </a:t>
            </a:r>
            <a:r>
              <a:rPr lang="en-US" sz="2600" b="1" dirty="0" smtClean="0">
                <a:latin typeface="Arial Black" pitchFamily="34" charset="0"/>
              </a:rPr>
              <a:t>Platform</a:t>
            </a:r>
          </a:p>
          <a:p>
            <a:r>
              <a:rPr lang="en-US" sz="2600" b="1" dirty="0" smtClean="0">
                <a:latin typeface="Arial Black" pitchFamily="34" charset="0"/>
              </a:rPr>
              <a:t>Sales Report Analysis</a:t>
            </a:r>
          </a:p>
          <a:p>
            <a:r>
              <a:rPr lang="en-US" sz="2600" b="1" dirty="0" smtClean="0">
                <a:latin typeface="Arial Black" pitchFamily="34" charset="0"/>
              </a:rPr>
              <a:t>Apple is not a Competitor</a:t>
            </a:r>
          </a:p>
          <a:p>
            <a:r>
              <a:rPr lang="en-US" sz="2600" b="1" dirty="0" smtClean="0">
                <a:latin typeface="Arial Black" pitchFamily="34" charset="0"/>
              </a:rPr>
              <a:t>Nokia’s Target</a:t>
            </a:r>
          </a:p>
          <a:p>
            <a:r>
              <a:rPr lang="en-US" sz="2600" b="1" dirty="0" smtClean="0">
                <a:latin typeface="Arial Black" pitchFamily="34" charset="0"/>
              </a:rPr>
              <a:t>Nokia Too Late</a:t>
            </a:r>
          </a:p>
          <a:p>
            <a:r>
              <a:rPr lang="en-US" sz="2600" dirty="0">
                <a:latin typeface="Arial Black" panose="020B0A04020102020204" pitchFamily="34" charset="0"/>
              </a:rPr>
              <a:t>Effect of Android</a:t>
            </a: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922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Introduction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Nokia is one of the most renowned companies in the world that manufactures mobile handsets for a considerable period of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Nokia </a:t>
            </a:r>
            <a:r>
              <a:rPr lang="en-US" dirty="0"/>
              <a:t>was the world leader in mobile telephones, from 1998, before its decline in 2012.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were the reasons for this decline and why did a company that was in such a commanding position make such decisions which led to their decline? </a:t>
            </a:r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/>
              <a:t>us begin by looking at some of the facts surrounding Nokia. </a:t>
            </a:r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Nokia Notable </a:t>
            </a:r>
            <a:r>
              <a:rPr lang="en-US" sz="3200" dirty="0" smtClean="0">
                <a:latin typeface="Arial Black" pitchFamily="34" charset="0"/>
              </a:rPr>
              <a:t>Achievements </a:t>
            </a:r>
            <a:endParaRPr lang="en-US" sz="3200" dirty="0">
              <a:latin typeface="Arial Black" pitchFamily="34" charset="0"/>
            </a:endParaRPr>
          </a:p>
        </p:txBody>
      </p:sp>
      <p:graphicFrame>
        <p:nvGraphicFramePr>
          <p:cNvPr id="17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624433"/>
              </p:ext>
            </p:extLst>
          </p:nvPr>
        </p:nvGraphicFramePr>
        <p:xfrm>
          <a:off x="457200" y="1600200"/>
          <a:ext cx="8229600" cy="431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/>
                <a:gridCol w="586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1999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Nokia launches the Nokia 7110.  phone with internet access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entered in electronics and Cable market.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1979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created radio, telephone company </a:t>
                      </a:r>
                      <a:r>
                        <a:rPr lang="en-US" dirty="0" err="1" smtClean="0"/>
                        <a:t>Mobira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Oy</a:t>
                      </a:r>
                      <a:r>
                        <a:rPr lang="en-US" dirty="0" smtClean="0"/>
                        <a:t> as</a:t>
                      </a:r>
                      <a:r>
                        <a:rPr lang="en-US" baseline="0" dirty="0" smtClean="0"/>
                        <a:t> joint venture with Finnish TV maker </a:t>
                      </a:r>
                      <a:r>
                        <a:rPr lang="en-US" baseline="0" dirty="0" err="1" smtClean="0"/>
                        <a:t>Salora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1981-84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Launch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Nordic Mobile Telephone service, the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Mobira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Senator, the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Mobira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Talkman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– car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phones,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Nokia DX200 first Digital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switch.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Mobira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Cityman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Gorba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First hand held mobile phone.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1991-1992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GSM installed</a:t>
                      </a:r>
                      <a:r>
                        <a:rPr lang="en-US" baseline="0" dirty="0" smtClean="0"/>
                        <a:t> with Nokia Equipment. Nokia launched 1011-first GSM phone.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becomes world</a:t>
                      </a:r>
                      <a:r>
                        <a:rPr lang="en-US" baseline="0" dirty="0" smtClean="0"/>
                        <a:t> leader in mobile phones market.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1999-2004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Launches Phones with camera</a:t>
                      </a:r>
                      <a:r>
                        <a:rPr lang="en-US" baseline="0" dirty="0" smtClean="0"/>
                        <a:t>, video capability, touch screen, Internet access, 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Nokia’s </a:t>
            </a:r>
            <a:r>
              <a:rPr lang="en-US" sz="3200" dirty="0" smtClean="0">
                <a:latin typeface="Arial Black" pitchFamily="34" charset="0"/>
              </a:rPr>
              <a:t>Technology </a:t>
            </a:r>
            <a:r>
              <a:rPr lang="en-US" sz="3200" dirty="0" smtClean="0">
                <a:latin typeface="Arial Black" pitchFamily="34" charset="0"/>
              </a:rPr>
              <a:t>Success 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 smtClean="0"/>
              <a:t>Company’s around the  </a:t>
            </a:r>
            <a:r>
              <a:rPr lang="en-US" sz="2400" dirty="0"/>
              <a:t>follow the </a:t>
            </a:r>
            <a:r>
              <a:rPr lang="en-US" sz="2400" dirty="0" smtClean="0"/>
              <a:t>model set by Nokia.</a:t>
            </a:r>
          </a:p>
          <a:p>
            <a:pPr lvl="1"/>
            <a:r>
              <a:rPr lang="en-US" sz="2000" dirty="0"/>
              <a:t>Sell the </a:t>
            </a:r>
            <a:r>
              <a:rPr lang="en-US" sz="2000" dirty="0" smtClean="0"/>
              <a:t>phones </a:t>
            </a:r>
            <a:r>
              <a:rPr lang="en-US" sz="2000" dirty="0"/>
              <a:t>using phone carriers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/>
              <a:t>"Software is also as important as hardware in phone business</a:t>
            </a:r>
            <a:r>
              <a:rPr lang="en-US" sz="2000" dirty="0" smtClean="0"/>
              <a:t>.“</a:t>
            </a:r>
          </a:p>
          <a:p>
            <a:pPr lvl="1"/>
            <a:r>
              <a:rPr lang="en-US" sz="2000" dirty="0"/>
              <a:t>Phone can be much more than communication device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Nokia </a:t>
            </a:r>
            <a:r>
              <a:rPr lang="en-US" sz="2000" dirty="0"/>
              <a:t>had created Product Obsolescence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Nokia </a:t>
            </a:r>
            <a:r>
              <a:rPr lang="en-US" sz="2400" dirty="0"/>
              <a:t>created first successful mobile platform as </a:t>
            </a:r>
            <a:r>
              <a:rPr lang="en-US" sz="2400" dirty="0" smtClean="0"/>
              <a:t>Symbian.</a:t>
            </a:r>
          </a:p>
          <a:p>
            <a:r>
              <a:rPr lang="en-US" sz="2400" dirty="0" smtClean="0"/>
              <a:t>In </a:t>
            </a:r>
            <a:r>
              <a:rPr lang="en-US" sz="2400" dirty="0"/>
              <a:t>future Nokia became the first company to create the tablet with internet in it. </a:t>
            </a:r>
            <a:endParaRPr lang="en-US" sz="2400" dirty="0" smtClean="0"/>
          </a:p>
          <a:p>
            <a:r>
              <a:rPr lang="en-US" sz="2400" dirty="0" smtClean="0"/>
              <a:t>Nokia </a:t>
            </a:r>
            <a:r>
              <a:rPr lang="en-US" sz="2400" dirty="0"/>
              <a:t>was also the first company to provide online music using phones and third party as online provider again not apple. </a:t>
            </a:r>
            <a:endParaRPr lang="en-US" sz="2400" dirty="0" smtClean="0"/>
          </a:p>
          <a:p>
            <a:r>
              <a:rPr lang="en-US" sz="2400" dirty="0" smtClean="0"/>
              <a:t>Nokia also created phone with touch screen.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Arial Black" pitchFamily="34" charset="0"/>
              </a:rPr>
              <a:t>Nokia Burning Platform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</a:t>
            </a:r>
            <a:r>
              <a:rPr lang="en-US" sz="1800" dirty="0" smtClean="0"/>
              <a:t>2010-11, </a:t>
            </a:r>
            <a:r>
              <a:rPr lang="en-US" sz="1800" dirty="0"/>
              <a:t>Nokia’s </a:t>
            </a:r>
            <a:r>
              <a:rPr lang="en-US" sz="1800" dirty="0" smtClean="0"/>
              <a:t>new CEO </a:t>
            </a:r>
            <a:r>
              <a:rPr lang="en-US" sz="1800" dirty="0"/>
              <a:t>Stephen </a:t>
            </a:r>
            <a:r>
              <a:rPr lang="en-US" sz="1800" dirty="0" err="1" smtClean="0"/>
              <a:t>Elop</a:t>
            </a:r>
            <a:r>
              <a:rPr lang="en-US" sz="1800" dirty="0" smtClean="0"/>
              <a:t> wrote </a:t>
            </a:r>
            <a:r>
              <a:rPr lang="en-US" sz="1800" dirty="0"/>
              <a:t>an email to all of its employees named “Burning Platform</a:t>
            </a:r>
            <a:r>
              <a:rPr lang="en-US" sz="1800" dirty="0" smtClean="0"/>
              <a:t>”. </a:t>
            </a:r>
          </a:p>
          <a:p>
            <a:r>
              <a:rPr lang="en-US" sz="1800" dirty="0"/>
              <a:t>Competitors such as the iPhone and Android-based devices are posing a serious challenge to Nokia's future. It appoints former Microsoft man Stephen </a:t>
            </a:r>
            <a:r>
              <a:rPr lang="en-US" sz="1800" dirty="0" err="1"/>
              <a:t>Elop</a:t>
            </a:r>
            <a:r>
              <a:rPr lang="en-US" sz="1800" dirty="0"/>
              <a:t> as president and chief executive. Nokia cuts a further 1,800 jobs despite a rise in profits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Nokia announces </a:t>
            </a:r>
            <a:r>
              <a:rPr lang="en-US" sz="1800" dirty="0"/>
              <a:t>a strategic partnership with Microsoft days later to compete with Apple and Google's Android platform. Nokia cuts a further 4,000 jobs worldwide from its 65,000-strong workforce. </a:t>
            </a:r>
            <a:endParaRPr lang="en-US" sz="1800" dirty="0" smtClean="0"/>
          </a:p>
          <a:p>
            <a:r>
              <a:rPr lang="en-US" sz="1800" dirty="0" smtClean="0"/>
              <a:t>In 2013, Nokia </a:t>
            </a:r>
            <a:r>
              <a:rPr lang="en-US" sz="1800" dirty="0"/>
              <a:t>returns to profit after an 18-month spell of losses. Microsoft buys Nokia's handset business for €</a:t>
            </a:r>
            <a:r>
              <a:rPr lang="en-US" sz="1800" dirty="0" smtClean="0"/>
              <a:t>5.44bn.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33540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Arial Black" pitchFamily="34" charset="0"/>
              </a:rPr>
              <a:t>Sales Reports Analysis</a:t>
            </a:r>
            <a:endParaRPr lang="en-US" sz="3200" dirty="0"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400"/>
            <a:ext cx="6383065" cy="346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" y="1295400"/>
            <a:ext cx="800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 we can see </a:t>
            </a:r>
            <a:r>
              <a:rPr lang="en-US" dirty="0"/>
              <a:t>N</a:t>
            </a:r>
            <a:r>
              <a:rPr lang="en-US" dirty="0" smtClean="0"/>
              <a:t>okia had a steady raise in the net sales, operating profits and net profits from 2004 -07.</a:t>
            </a:r>
          </a:p>
          <a:p>
            <a:r>
              <a:rPr lang="en-US" dirty="0" smtClean="0"/>
              <a:t>You can see 2009 even Nokia had good sales profit was at bottom low. Hence the ‘Burning platform Email’.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Apple is not Competitor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 2007, Apple announces iPhone to be launch in 2008.</a:t>
            </a:r>
          </a:p>
          <a:p>
            <a:r>
              <a:rPr lang="en-US" sz="2000" dirty="0" smtClean="0"/>
              <a:t>In response Nokia, does not consider Apple a competition as the  iPhone is a luxury phone while Nokia will produce more cheap phones.</a:t>
            </a:r>
          </a:p>
          <a:p>
            <a:r>
              <a:rPr lang="en-US" sz="2000" dirty="0" smtClean="0"/>
              <a:t>Nokia decide to gain 40% market share with cheap phones in new markets as India, China, Russia, and Africa.</a:t>
            </a:r>
          </a:p>
          <a:p>
            <a:r>
              <a:rPr lang="en-US" sz="2000" dirty="0" smtClean="0"/>
              <a:t>Nokia decide to stay with its famous and proven software Symbian OS. </a:t>
            </a:r>
          </a:p>
          <a:p>
            <a:r>
              <a:rPr lang="en-US" sz="2000" dirty="0" smtClean="0"/>
              <a:t>While Motorola is changing this strategy by creating phones more stylish and luxuries modes like Moto Razor.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Nokia’s Target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8534400" cy="63976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smtClean="0"/>
              <a:t>In 2007-8 </a:t>
            </a:r>
            <a:r>
              <a:rPr lang="en-US" sz="1800" b="0" dirty="0"/>
              <a:t>N</a:t>
            </a:r>
            <a:r>
              <a:rPr lang="en-US" sz="1800" b="0" dirty="0" smtClean="0"/>
              <a:t>okia’s target to reach 40</a:t>
            </a:r>
            <a:r>
              <a:rPr lang="en-US" sz="1800" b="0" dirty="0" smtClean="0"/>
              <a:t>% global market share was successfully achieved</a:t>
            </a:r>
            <a:r>
              <a:rPr lang="en-US" sz="1800" b="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smtClean="0"/>
              <a:t>Because of the cheap phones Nokia lost North America and decline in Europe.</a:t>
            </a:r>
          </a:p>
        </p:txBody>
      </p:sp>
      <p:pic>
        <p:nvPicPr>
          <p:cNvPr id="15" name="Content Placeholder 14"/>
          <p:cNvPicPr>
            <a:picLocks noGrp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12244"/>
            <a:ext cx="4040188" cy="227655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63597589"/>
              </p:ext>
            </p:extLst>
          </p:nvPr>
        </p:nvGraphicFramePr>
        <p:xfrm>
          <a:off x="4645025" y="2174875"/>
          <a:ext cx="4041775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Nokia too late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153400" cy="94456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2009, Nokia consider Apple a competition. As Nokia’s N series mobile phones, high-end mobile phones sells declined</a:t>
            </a:r>
            <a:r>
              <a:rPr lang="en-US" dirty="0" smtClean="0"/>
              <a:t>.</a:t>
            </a:r>
          </a:p>
          <a:p>
            <a:r>
              <a:rPr lang="en-US" dirty="0"/>
              <a:t>Apple’s share prices increased steadily after 2009 and during this period Nokia’s stock prices deceased considerably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08" y="2672619"/>
            <a:ext cx="4187824" cy="3047523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3" name="Content Placeholder 12"/>
          <p:cNvPicPr>
            <a:picLocks noGr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662238"/>
            <a:ext cx="4191000" cy="3047523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latin typeface="Arial Black" panose="020B0A04020102020204" pitchFamily="34" charset="0"/>
              </a:rPr>
              <a:t>Effect of Android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mtClean="0"/>
              <a:t>In 2007, Google launched Android and started a  Open Handset Alliance. </a:t>
            </a:r>
          </a:p>
          <a:p>
            <a:r>
              <a:rPr lang="en-US" sz="1800" smtClean="0"/>
              <a:t>Motorola, Samsung ,HTC, Sony and many other company struggling at the time</a:t>
            </a:r>
            <a:br>
              <a:rPr lang="en-US" sz="1800" smtClean="0"/>
            </a:br>
            <a:r>
              <a:rPr lang="en-US" sz="1800" smtClean="0"/>
              <a:t>joined. And started manufacturing Smartphones with Android.</a:t>
            </a:r>
          </a:p>
          <a:p>
            <a:r>
              <a:rPr lang="en-US" sz="1800" smtClean="0"/>
              <a:t>Nokia, blackberry and Apple trusted their software and OS and decide not to join the alliance.</a:t>
            </a:r>
          </a:p>
          <a:p>
            <a:r>
              <a:rPr lang="en-US" sz="1800" smtClean="0"/>
              <a:t>With the other company's in the market the phone keep getting cheaper and cheaper and this commoditize mobile/smart phone market.</a:t>
            </a:r>
          </a:p>
          <a:p>
            <a:r>
              <a:rPr lang="en-US" sz="1800" smtClean="0"/>
              <a:t>Profits in cheap mobile market keep getting reduced. Hence , In 2009, Nokia had good sale, and 40% market share but Nokia didn’t make big any profits.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627127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Market Change 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r>
              <a:rPr lang="en-US" sz="2000" dirty="0" smtClean="0"/>
              <a:t>Average Selling Price for per hand set and revenue.</a:t>
            </a:r>
          </a:p>
          <a:p>
            <a:r>
              <a:rPr lang="en-US" sz="2000" dirty="0" smtClean="0"/>
              <a:t>As </a:t>
            </a:r>
            <a:r>
              <a:rPr lang="en-US" sz="2000" dirty="0"/>
              <a:t>N</a:t>
            </a:r>
            <a:r>
              <a:rPr lang="en-US" sz="2000" dirty="0" smtClean="0"/>
              <a:t>okia was more selling its product in China, India, Africa and Mobile Phone was not saturated.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72189"/>
            <a:ext cx="6374650" cy="3036536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316936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20" name="Rectangle 19"/>
          <p:cNvSpPr/>
          <p:nvPr/>
        </p:nvSpPr>
        <p:spPr>
          <a:xfrm>
            <a:off x="3872481" y="3244334"/>
            <a:ext cx="1399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commoditize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49" y="2495212"/>
            <a:ext cx="6515100" cy="36147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8600" y="364815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2013, Market was changed. IPhone was making most money with luxury phones.</a:t>
            </a:r>
          </a:p>
          <a:p>
            <a:r>
              <a:rPr lang="en-US" dirty="0" smtClean="0"/>
              <a:t>And </a:t>
            </a:r>
            <a:r>
              <a:rPr lang="en-US" dirty="0" err="1" smtClean="0"/>
              <a:t>Samsung,HTC,LG</a:t>
            </a:r>
            <a:r>
              <a:rPr lang="en-US" dirty="0" smtClean="0"/>
              <a:t> and Sony was also making more money with more costly phone compare to Nokia.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9901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latin typeface="Arial Black" panose="020B0A04020102020204" pitchFamily="34" charset="0"/>
              </a:rPr>
              <a:t>2011, Nokia Windows phone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Burning platform –Email. Explains the faults in the Nokia’s leadership and says either jump in water or go in to the flames.</a:t>
            </a:r>
          </a:p>
          <a:p>
            <a:r>
              <a:rPr lang="en-US" sz="2000" dirty="0" smtClean="0"/>
              <a:t>Nokia joins with Microsoft. </a:t>
            </a:r>
            <a:r>
              <a:rPr lang="en-US" sz="2000" dirty="0"/>
              <a:t> </a:t>
            </a:r>
            <a:r>
              <a:rPr lang="en-US" sz="2000" dirty="0" smtClean="0"/>
              <a:t>Give ups on Symbian OS. </a:t>
            </a:r>
          </a:p>
          <a:p>
            <a:pPr lvl="1"/>
            <a:r>
              <a:rPr lang="en-US" sz="2000" dirty="0" smtClean="0"/>
              <a:t>Microsoft because CEO </a:t>
            </a:r>
            <a:r>
              <a:rPr lang="en-US" sz="2000" dirty="0" err="1" smtClean="0"/>
              <a:t>Elop</a:t>
            </a:r>
            <a:r>
              <a:rPr lang="en-US" sz="2000" dirty="0" smtClean="0"/>
              <a:t> is Ex Microsoft CEO.</a:t>
            </a:r>
          </a:p>
          <a:p>
            <a:pPr lvl="1"/>
            <a:r>
              <a:rPr lang="en-US" sz="2000" dirty="0" smtClean="0"/>
              <a:t>Nokia’s believe  that software was unique and will satisfy  its customer base.</a:t>
            </a:r>
          </a:p>
          <a:p>
            <a:pPr lvl="1"/>
            <a:r>
              <a:rPr lang="en-US" sz="2000" dirty="0" smtClean="0"/>
              <a:t>Leadership wanted to sell company to Microsoft in future</a:t>
            </a:r>
          </a:p>
          <a:p>
            <a:pPr lvl="1"/>
            <a:r>
              <a:rPr lang="en-US" sz="2000" dirty="0" smtClean="0"/>
              <a:t>If in 2010 Nokia chooses android is </a:t>
            </a:r>
            <a:r>
              <a:rPr lang="en-US" sz="2000" dirty="0"/>
              <a:t>N</a:t>
            </a:r>
            <a:r>
              <a:rPr lang="en-US" sz="2000" dirty="0" smtClean="0"/>
              <a:t>okia still alive?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>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04934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Microsoft buys Nokia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68" y="2819400"/>
            <a:ext cx="7440063" cy="3449137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extBox 4"/>
          <p:cNvSpPr txBox="1"/>
          <p:nvPr/>
        </p:nvSpPr>
        <p:spPr>
          <a:xfrm>
            <a:off x="851968" y="1417638"/>
            <a:ext cx="73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Nokia sales keep getting Lower and lower and Nokia decide to sell its mobile handset business to Microsoft.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1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Conclusion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Was </a:t>
            </a:r>
            <a:r>
              <a:rPr lang="en-US" sz="2400" dirty="0"/>
              <a:t>unable to stay in the competition with Android and iOS devices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Goal </a:t>
            </a:r>
            <a:r>
              <a:rPr lang="en-US" sz="2400" dirty="0"/>
              <a:t>more market </a:t>
            </a:r>
            <a:r>
              <a:rPr lang="en-US" sz="2400" dirty="0" smtClean="0"/>
              <a:t>share.</a:t>
            </a:r>
          </a:p>
          <a:p>
            <a:r>
              <a:rPr lang="en-US" sz="2400" dirty="0" smtClean="0"/>
              <a:t>Quality/luxury </a:t>
            </a:r>
            <a:r>
              <a:rPr lang="en-US" sz="2400" dirty="0"/>
              <a:t>phone </a:t>
            </a:r>
            <a:r>
              <a:rPr lang="en-US" sz="2400" dirty="0" smtClean="0"/>
              <a:t>Market share was low.</a:t>
            </a:r>
          </a:p>
          <a:p>
            <a:pPr lvl="0"/>
            <a:r>
              <a:rPr lang="en-US" sz="2400" dirty="0"/>
              <a:t>Did not consider Apple to be a competitor until three years after its release. 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Going with Microsoft Windows after the failure with Symbian OS.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7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Thank you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37953"/>
      </p:ext>
    </p:extLst>
  </p:cSld>
  <p:clrMapOvr>
    <a:masterClrMapping/>
  </p:clrMapOvr>
</p:sld>
</file>

<file path=ppt/theme/theme1.xml><?xml version="1.0" encoding="utf-8"?>
<a:theme xmlns:a="http://schemas.openxmlformats.org/drawingml/2006/main" name="Diffused_arch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5585201-98DB-492D-90BE-EC5D7933D8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Diffused_arches</Template>
  <TotalTime>0</TotalTime>
  <Words>1592</Words>
  <Application>Microsoft Office PowerPoint</Application>
  <PresentationFormat>On-screen Show (4:3)</PresentationFormat>
  <Paragraphs>152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Times New Roman</vt:lpstr>
      <vt:lpstr>Diffused_arches</vt:lpstr>
      <vt:lpstr>THE RISE AND FALL OF NOKIA </vt:lpstr>
      <vt:lpstr>PowerPoint Presentation</vt:lpstr>
      <vt:lpstr>Introduction</vt:lpstr>
      <vt:lpstr>Nokia Notable Achievements </vt:lpstr>
      <vt:lpstr>Nokia’s Technology Success </vt:lpstr>
      <vt:lpstr>Nokia Burning Platform</vt:lpstr>
      <vt:lpstr>Sales Reports Analysis</vt:lpstr>
      <vt:lpstr>Apple is not Competitor</vt:lpstr>
      <vt:lpstr>Nokia’s Target</vt:lpstr>
      <vt:lpstr>Nokia too late</vt:lpstr>
      <vt:lpstr>PowerPoint Presentation</vt:lpstr>
      <vt:lpstr>Market Change </vt:lpstr>
      <vt:lpstr>PowerPoint Presentation</vt:lpstr>
      <vt:lpstr>PowerPoint Presentation</vt:lpstr>
      <vt:lpstr>Microsoft buys Nokia</vt:lpstr>
      <vt:lpstr>Conclusion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2016-04-15T13:16:34Z</dcterms:created>
  <dcterms:modified xsi:type="dcterms:W3CDTF">2016-04-16T21:34:00Z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TC020116479991</vt:lpwstr>
  </property>
</Properties>
</file>